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1E293B"/>
                </a:solidFill>
                <a:latin typeface="微軟正黑體"/>
              </a:defRPr>
            </a:pPr>
            <a:r>
              <a:t>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  <a:latin typeface="微軟正黑體"/>
              </a:defRPr>
            </a:pPr>
            <a:r>
              <a:t>健康小達人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75569"/>
                </a:solidFill>
                <a:latin typeface="微軟正黑體"/>
              </a:defRPr>
            </a:pPr>
            <a:r>
              <a:t>小學五年級 · 衛生教育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4389120"/>
            <a:ext cx="1645920" cy="4114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軟正黑體"/>
              </a:defRPr>
            </a:pPr>
            <a:r>
              <a:t>✨ 個人衛生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4389120"/>
            <a:ext cx="164592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軟正黑體"/>
              </a:defRPr>
            </a:pPr>
            <a:r>
              <a:t>🫧 正確洗手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4389120"/>
            <a:ext cx="1645920" cy="4114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軟正黑體"/>
              </a:defRPr>
            </a:pPr>
            <a:r>
              <a:t>🏠 環境衛生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943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微軟正黑體"/>
              </a:defRPr>
            </a:pPr>
            <a:r>
              <a:t>健康促進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97706"/>
                </a:solidFill>
                <a:latin typeface="微軟正黑體"/>
              </a:defRPr>
            </a:pPr>
            <a:r>
              <a:t>🌟 個人衛生好習慣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  <a:latin typeface="微軟正黑體"/>
              </a:defRPr>
            </a:pPr>
            <a:r>
              <a:t>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微軟正黑體"/>
              </a:defRPr>
            </a:pPr>
            <a:r>
              <a:t>早晚刷牙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軟正黑體"/>
              </a:defRPr>
            </a:pPr>
            <a:r>
              <a:t>每天早晚各刷一次，每次至少 2 分鐘，使用含氟牙膏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  <a:latin typeface="微軟正黑體"/>
              </a:defRPr>
            </a:pPr>
            <a:r>
              <a:t>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  <a:latin typeface="微軟正黑體"/>
              </a:defRPr>
            </a:pPr>
            <a:r>
              <a:t>勤洗手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軟正黑體"/>
              </a:defRPr>
            </a:pPr>
            <a:r>
              <a:t>飯前、便後、玩完公共物品都要用肥皂洗手 40~60 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  <a:latin typeface="微軟正黑體"/>
              </a:defRPr>
            </a:pPr>
            <a:r>
              <a:t>✂️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319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7706"/>
                </a:solidFill>
                <a:latin typeface="微軟正黑體"/>
              </a:defRPr>
            </a:pPr>
            <a:r>
              <a:t>修剪指甲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8055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軟正黑體"/>
              </a:defRPr>
            </a:pPr>
            <a:r>
              <a:t>指甲藏污納垢，每週修剪一次保持短而乾淨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39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9319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  <a:latin typeface="微軟正黑體"/>
              </a:defRPr>
            </a:pPr>
            <a:r>
              <a:t>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9319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微軟正黑體"/>
              </a:defRPr>
            </a:pPr>
            <a:r>
              <a:t>充足睡眠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5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軟正黑體"/>
              </a:defRPr>
            </a:pPr>
            <a:r>
              <a:t>每天睡 9~11 小時，增強免疫力，身體更健康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43600"/>
            <a:ext cx="10698480" cy="54864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2400E"/>
                </a:solidFill>
                <a:latin typeface="微軟正黑體"/>
              </a:defRPr>
            </a:pPr>
            <a:r>
              <a:t>💡 小提醒：打噴嚏時用「手肘內側」遮住，不是用手掌！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59669"/>
                </a:solidFill>
                <a:latin typeface="微軟正黑體"/>
              </a:defRPr>
            </a:pPr>
            <a:r>
              <a:t>🫧 正確洗手 7 步驟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軟正黑體"/>
              </a:defRPr>
            </a:pPr>
            <a:r>
              <a:t>口訣：內 → 外 → 夾 → 攻 → 大 → 立 → 腕   |   全程 40~60 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371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219456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微軟正黑體"/>
              </a:defRPr>
            </a:pPr>
            <a:r>
              <a:t>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軟正黑體"/>
              </a:defRPr>
            </a:pPr>
            <a:r>
              <a:t>手心搓手心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011680"/>
            <a:ext cx="1371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2194560"/>
            <a:ext cx="548640" cy="5486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59669"/>
                </a:solidFill>
                <a:latin typeface="微軟正黑體"/>
              </a:defRPr>
            </a:pPr>
            <a:r>
              <a:t>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383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軟正黑體"/>
              </a:defRPr>
            </a:pPr>
            <a:r>
              <a:t>手心搓手背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2011680"/>
            <a:ext cx="1371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2194560"/>
            <a:ext cx="548640" cy="5486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97706"/>
                </a:solidFill>
                <a:latin typeface="微軟正黑體"/>
              </a:defRPr>
            </a:pPr>
            <a:r>
              <a:t>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3383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軟正黑體"/>
              </a:defRPr>
            </a:pPr>
            <a:r>
              <a:t>指縫交叉搓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2011680"/>
            <a:ext cx="1371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2194560"/>
            <a:ext cx="54864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3AED"/>
                </a:solidFill>
                <a:latin typeface="微軟正黑體"/>
              </a:defRPr>
            </a:pPr>
            <a:r>
              <a:t>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383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軟正黑體"/>
              </a:defRPr>
            </a:pPr>
            <a:r>
              <a:t>弓起手指搓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2011680"/>
            <a:ext cx="1371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43800" y="2194560"/>
            <a:ext cx="548640" cy="5486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2626"/>
                </a:solidFill>
                <a:latin typeface="微軟正黑體"/>
              </a:defRPr>
            </a:pPr>
            <a:r>
              <a:t>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383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軟正黑體"/>
              </a:defRPr>
            </a:pPr>
            <a:r>
              <a:t>旋轉搓拇指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2011680"/>
            <a:ext cx="1371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0" y="2194560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580C"/>
                </a:solidFill>
                <a:latin typeface="微軟正黑體"/>
              </a:defRPr>
            </a:pPr>
            <a:r>
              <a:t>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383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軟正黑體"/>
              </a:defRPr>
            </a:pPr>
            <a:r>
              <a:t>指尖搓手心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32720" y="2011680"/>
            <a:ext cx="1371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744200" y="2194560"/>
            <a:ext cx="54864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891B2"/>
                </a:solidFill>
                <a:latin typeface="微軟正黑體"/>
              </a:defRPr>
            </a:pPr>
            <a:r>
              <a:t>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3383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軟正黑體"/>
              </a:defRPr>
            </a:pPr>
            <a:r>
              <a:t>搓揉手腕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微軟正黑體"/>
              </a:defRPr>
            </a:pPr>
            <a:r>
              <a:t>記住口訣：內外夾攻大立腕 — 保護自己，也保護同學！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  <a:latin typeface="微軟正黑體"/>
              </a:defRPr>
            </a:pPr>
            <a:r>
              <a:t>🏠 環境衛生一起來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E293B"/>
                </a:solidFill>
                <a:latin typeface="微軟正黑體"/>
              </a:defRPr>
            </a:pPr>
            <a:r>
              <a:t>🗑️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微軟正黑體"/>
              </a:defRPr>
            </a:pPr>
            <a:r>
              <a:t>垃圾分類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軟正黑體"/>
              </a:defRPr>
            </a:pPr>
            <a:r>
              <a:t>一般垃圾、回收、廚餘分清楚，地球更美好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E293B"/>
                </a:solidFill>
                <a:latin typeface="微軟正黑體"/>
              </a:defRPr>
            </a:pPr>
            <a:r>
              <a:t>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  <a:latin typeface="微軟正黑體"/>
              </a:defRPr>
            </a:pPr>
            <a:r>
              <a:t>保持通風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軟正黑體"/>
              </a:defRPr>
            </a:pPr>
            <a:r>
              <a:t>每天開窗 30 分鐘，新鮮空氣不生病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E293B"/>
                </a:solidFill>
                <a:latin typeface="微軟正黑體"/>
              </a:defRPr>
            </a:pPr>
            <a:r>
              <a:t>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7706"/>
                </a:solidFill>
                <a:latin typeface="微軟正黑體"/>
              </a:defRPr>
            </a:pPr>
            <a:r>
              <a:t>整潔書桌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軟正黑體"/>
              </a:defRPr>
            </a:pPr>
            <a:r>
              <a:t>用完物品歸位，桌面乾淨學習效率更高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9184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E293B"/>
                </a:solidFill>
                <a:latin typeface="微軟正黑體"/>
              </a:defRPr>
            </a:pPr>
            <a:r>
              <a:t>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微軟正黑體"/>
              </a:defRPr>
            </a:pPr>
            <a:r>
              <a:t>節約水電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軟正黑體"/>
              </a:defRPr>
            </a:pPr>
            <a:r>
              <a:t>隨手關燈關水龍頭，愛護地球資源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5029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293B"/>
                </a:solidFill>
                <a:latin typeface="微軟正黑體"/>
              </a:defRPr>
            </a:pPr>
            <a:r>
              <a:t>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1663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軟正黑體"/>
              </a:defRPr>
            </a:pPr>
            <a:r>
              <a:t>咳嗽禮節：咳嗽或打噴嚏戴口罩或用衛生紙摀住口鼻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120640"/>
            <a:ext cx="5029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293B"/>
                </a:solidFill>
                <a:latin typeface="微軟正黑體"/>
              </a:defRPr>
            </a:pPr>
            <a:r>
              <a:t>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51663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軟正黑體"/>
              </a:defRPr>
            </a:pPr>
            <a:r>
              <a:t>護眼原則：用眼 30 分鐘休息 10 分鐘，看書保持 30~40 公分距離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59669"/>
                </a:solidFill>
                <a:latin typeface="微軟正黑體"/>
              </a:defRPr>
            </a:pPr>
            <a:r>
              <a:t>🏁 總結 &amp; 小測驗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201168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軟正黑體"/>
              </a:defRPr>
            </a:pPr>
            <a:r>
              <a:t>🪥 早晚刷牙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1188720"/>
            <a:ext cx="2011680" cy="4572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軟正黑體"/>
              </a:defRPr>
            </a:pPr>
            <a:r>
              <a:t>🫧 勤洗手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188720"/>
            <a:ext cx="201168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軟正黑體"/>
              </a:defRPr>
            </a:pPr>
            <a:r>
              <a:t>🗑️ 做分類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59" y="1188720"/>
            <a:ext cx="2011680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軟正黑體"/>
              </a:defRPr>
            </a:pPr>
            <a:r>
              <a:t>🪟 常通風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軟正黑體"/>
              </a:defRPr>
            </a:pPr>
            <a:r>
              <a:t>❓ 洗手 7 步驟的第一個是什麼？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563EB"/>
                </a:solidFill>
                <a:latin typeface="微軟正黑體"/>
              </a:defRPr>
            </a:pPr>
            <a:r>
              <a:t>👉 答案：「內」— 手心搓手心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軟正黑體"/>
              </a:defRPr>
            </a:pPr>
            <a:r>
              <a:t>❓ 每天應該睡幾個小時？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88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59669"/>
                </a:solidFill>
                <a:latin typeface="微軟正黑體"/>
              </a:defRPr>
            </a:pPr>
            <a:r>
              <a:t>👉 答案：9~11 小時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軟正黑體"/>
              </a:defRPr>
            </a:pPr>
            <a:r>
              <a:t>❓ 打噴嚏應該用哪裡遮住？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97706"/>
                </a:solidFill>
                <a:latin typeface="微軟正黑體"/>
              </a:defRPr>
            </a:pPr>
            <a:r>
              <a:t>👉 答案：手肘內側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軟正黑體"/>
              </a:defRPr>
            </a:pPr>
            <a:r>
              <a:t>❓ 每次洗手應該洗多久？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617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3AED"/>
                </a:solidFill>
                <a:latin typeface="微軟正黑體"/>
              </a:defRPr>
            </a:pPr>
            <a:r>
              <a:t>👉 答案：40~60 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62179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微軟正黑體"/>
              </a:defRPr>
            </a:pPr>
            <a:r>
              <a:t>從今天開始，做個健康小達人！ 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